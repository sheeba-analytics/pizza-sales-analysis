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73" r:id="rId5"/>
    <p:sldId id="268" r:id="rId6"/>
    <p:sldId id="270" r:id="rId7"/>
    <p:sldId id="271" r:id="rId8"/>
    <p:sldId id="272" r:id="rId9"/>
    <p:sldId id="269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5" r:id="rId18"/>
    <p:sldId id="274" r:id="rId19"/>
    <p:sldId id="266" r:id="rId20"/>
    <p:sldId id="26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46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8398-14F0-5499-6862-47796FA7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37E231-C278-5C7B-D552-47067F61E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5BB5F-B699-B53D-1844-08FB5E34C2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2D03BD6-878B-E0AE-E385-DFF364D18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8A4AFA-DDC2-F07F-4FC4-B1E7C0FF1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6A7ED-C4A9-F68D-082F-65D733CD8B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D6CC-752D-6ABC-593E-D220C1DAF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6953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1503-01B0-511F-7DA0-77922102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68E693-99C4-013A-A3AA-2A57FEFF1B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000013-B413-7D80-D6D9-25DE7D35DAC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991124-B4B9-1835-478C-C3A4D78BE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933151D-1563-DC2A-B8E7-81831EA1F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C2155-E574-7E3E-4199-66064F5EE4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FC749-BB11-2CF1-90E2-77A293C12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6359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38B7-9E6B-7A20-2C23-CE8CADED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DD0B47-5190-1EDB-30E2-F33CABC680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F43BE-E5EF-8325-EE49-2963D94A5D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665CD99-C622-2BBF-4B54-4B1E75813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F7A03A-15F3-FD97-482E-259E13146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42F29-7670-4342-0E6E-5B54E0F9D9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D6D7C-E546-3A6B-AACF-F2DF52126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3227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810D-AE84-F4C6-0346-EF6852B7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532054-C762-1E4D-21CA-6B3DDC3453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69BE8-C243-3141-EA29-CBAFB92D98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79AE03-9121-77D4-C9E3-9CA3DE878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9016728-CF81-5FBD-DC80-AB3C1B261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74B8E-73CF-277E-DE62-B7D878660A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07647-F7D7-94F8-8FDA-D1F1962D9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8672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D25C-F1FD-D67C-71D5-2F6543E5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035B3-FDBC-3943-72DE-7A9CD9EB9A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BA398-EAD9-22DE-C1FF-68E20B9F4E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BFFB52-42E4-221E-11CA-47A27A01B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802C3B-212C-DC50-04F9-7150328F7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3FC45-3835-4915-0C55-48238D8A36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43D2E-C86E-CE1C-9BF9-3256CC231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405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878D-DF2F-22C6-2017-CF0651AB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D2A41-C2EF-FF56-C341-9664F45762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2BF5A-6D87-CE38-C12E-B640E5BC83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10EA10-F316-DA69-07F4-8FF57CA8D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AB7F4B-ACF2-4E8B-63E8-4F9074FDC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FC52C-5EA3-72E8-9706-98F7313165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A7FC4-6581-58EC-E779-D94B243E3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0411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5179-7D31-A238-E0A0-9A9FE391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3A6539-3688-0A86-93CF-CAC64231E0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DB096-D2A7-91B1-2BFB-31735CF899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36F0570-DCEF-88F9-E052-A993453F6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8E8AF9E-9F8B-D2F9-730E-19AADB7ED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3EEA5-7DFB-4D6B-3FEB-582D37FC5A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48BEA-D4D9-7F5D-8F18-4324AA126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93167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28BA-CEA2-866C-4DE3-D7EC0D93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EECD70-152C-C990-380C-FD361BFE11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6E5AD-0F98-795C-3313-876D45A8BA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F5A22D-4B5C-89E7-4E84-A92A0A00F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C973BD-06D3-3D3D-620D-ABA0926D3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3224F-3851-97AE-2F66-19D25FD71A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368AF-6EDB-38C1-766A-AA69A6130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57255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556000"/>
            <a:ext cx="12192000" cy="3302000"/>
          </a:xfrm>
          <a:prstGeom prst="roundRect">
            <a:avLst>
              <a:gd name="adj" fmla="val 0"/>
            </a:avLst>
          </a:prstGeom>
          <a:solidFill>
            <a:srgbClr val="CE2C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25198" b="25198"/>
          <a:stretch>
            <a:fillRect/>
          </a:stretch>
        </p:blipFill>
        <p:spPr>
          <a:xfrm>
            <a:off x="609600" y="2413000"/>
            <a:ext cx="10972800" cy="4064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09600" y="508000"/>
            <a:ext cx="10972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Pizza Sales Performance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646464"/>
                </a:solidFill>
                <a:latin typeface="Montserrat"/>
                <a:ea typeface="Montserrat"/>
                <a:cs typeface="Montserrat"/>
                <a:sym typeface="Montserrat"/>
              </a:rPr>
              <a:t>Year overview and key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3016" y="17979"/>
            <a:ext cx="12078984" cy="8039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  <a:r>
              <a:rPr lang="en-US" sz="3600" b="1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 Overview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CD2D6-434D-4C1B-CF7A-F7AFCD904A1F}"/>
              </a:ext>
            </a:extLst>
          </p:cNvPr>
          <p:cNvSpPr txBox="1"/>
          <p:nvPr/>
        </p:nvSpPr>
        <p:spPr>
          <a:xfrm>
            <a:off x="390419" y="940375"/>
            <a:ext cx="617990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Pizza Sales Analysis Dashboard</a:t>
            </a:r>
          </a:p>
          <a:p>
            <a:pPr>
              <a:buNone/>
            </a:pP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Sales performance analysis using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Built with Power Pivot &amp; DAX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Focus on revenue, trends, and customer demand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43E57-40CA-8694-4A35-D54B8089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6" y="2171481"/>
            <a:ext cx="11678292" cy="4787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35B56-9F4D-E862-41B0-A86BCAF63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CBFF38-B99A-FA5D-2F65-6416CFABBAD0}"/>
              </a:ext>
            </a:extLst>
          </p:cNvPr>
          <p:cNvSpPr/>
          <p:nvPr/>
        </p:nvSpPr>
        <p:spPr>
          <a:xfrm>
            <a:off x="330485" y="186647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Proble</a:t>
            </a:r>
            <a:r>
              <a:rPr lang="en-US" sz="3600" b="1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m Statement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6102988-33A8-B0AB-7266-0C95EF90AF27}"/>
              </a:ext>
            </a:extLst>
          </p:cNvPr>
          <p:cNvSpPr/>
          <p:nvPr/>
        </p:nvSpPr>
        <p:spPr>
          <a:xfrm>
            <a:off x="472611" y="1191803"/>
            <a:ext cx="11116638" cy="2237198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/>
              <a:t>The pizza business generates large volumes of sales data across products and time periods. However, the lack of a centralized dashboard makes it difficult to track performance and trends. Key insights on revenue, product contribution, and customer behavior are not easily visible. A clear, interactive Excel dashboard is required to support data-driven decisions.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6769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7BDB6-F104-98D7-E052-A6ACC2AD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AD80DC6-991D-BEE6-9F1C-041C9258485E}"/>
              </a:ext>
            </a:extLst>
          </p:cNvPr>
          <p:cNvSpPr/>
          <p:nvPr/>
        </p:nvSpPr>
        <p:spPr>
          <a:xfrm>
            <a:off x="400692" y="268841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AB5A3797-AD7B-A305-7D39-B5D90A79A945}"/>
              </a:ext>
            </a:extLst>
          </p:cNvPr>
          <p:cNvSpPr/>
          <p:nvPr/>
        </p:nvSpPr>
        <p:spPr>
          <a:xfrm>
            <a:off x="308225" y="1232899"/>
            <a:ext cx="10668000" cy="4037743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Analyze Overall Sales Performance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Identify Monthly Revenue Trends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Evaluate Product Performance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Understand Customer Ordering Behavior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Enable Data-Driven Decision Making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614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05DEE-B665-F386-C2E9-0C81240B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E87A816-29C9-AACC-6055-9428212548E3}"/>
              </a:ext>
            </a:extLst>
          </p:cNvPr>
          <p:cNvSpPr/>
          <p:nvPr/>
        </p:nvSpPr>
        <p:spPr>
          <a:xfrm>
            <a:off x="371579" y="52601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Data Overview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FB4390F-F48D-E2DD-A801-5442A191881C}"/>
              </a:ext>
            </a:extLst>
          </p:cNvPr>
          <p:cNvSpPr/>
          <p:nvPr/>
        </p:nvSpPr>
        <p:spPr>
          <a:xfrm>
            <a:off x="863028" y="1778000"/>
            <a:ext cx="10566971" cy="3215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Rectangle 3" descr="Register">
            <a:extLst>
              <a:ext uri="{FF2B5EF4-FFF2-40B4-BE49-F238E27FC236}">
                <a16:creationId xmlns:a16="http://schemas.microsoft.com/office/drawing/2014/main" id="{2BC056A6-A72E-16B0-8B2B-90234B99C4C7}"/>
              </a:ext>
            </a:extLst>
          </p:cNvPr>
          <p:cNvSpPr/>
          <p:nvPr/>
        </p:nvSpPr>
        <p:spPr>
          <a:xfrm>
            <a:off x="1373156" y="2404152"/>
            <a:ext cx="1260000" cy="126000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22499-449B-DBE2-F50A-4293E1E9DAD8}"/>
              </a:ext>
            </a:extLst>
          </p:cNvPr>
          <p:cNvSpPr txBox="1"/>
          <p:nvPr/>
        </p:nvSpPr>
        <p:spPr>
          <a:xfrm>
            <a:off x="1058238" y="3704798"/>
            <a:ext cx="26764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/>
              <a:t>Dataset</a:t>
            </a:r>
            <a:r>
              <a:rPr lang="en-US" sz="1400" b="1" dirty="0"/>
              <a:t>:</a:t>
            </a:r>
            <a:r>
              <a:rPr lang="en-SG" sz="1400" b="1" dirty="0"/>
              <a:t> </a:t>
            </a:r>
            <a:r>
              <a:rPr lang="en-SG" sz="1600" dirty="0"/>
              <a:t>4 csv files for </a:t>
            </a:r>
            <a:r>
              <a:rPr lang="en-US" sz="1600" dirty="0"/>
              <a:t>Pizza Sales Performance (2015)</a:t>
            </a:r>
          </a:p>
        </p:txBody>
      </p:sp>
      <p:sp>
        <p:nvSpPr>
          <p:cNvPr id="7" name="Rectangle 6" descr="Hourglass">
            <a:extLst>
              <a:ext uri="{FF2B5EF4-FFF2-40B4-BE49-F238E27FC236}">
                <a16:creationId xmlns:a16="http://schemas.microsoft.com/office/drawing/2014/main" id="{F8D2620E-B993-5A76-4D92-D93044B1D860}"/>
              </a:ext>
            </a:extLst>
          </p:cNvPr>
          <p:cNvSpPr/>
          <p:nvPr/>
        </p:nvSpPr>
        <p:spPr>
          <a:xfrm>
            <a:off x="5253816" y="2404152"/>
            <a:ext cx="1260000" cy="126000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EFFF1-B18F-B63B-6ABB-505FFB2C75A0}"/>
              </a:ext>
            </a:extLst>
          </p:cNvPr>
          <p:cNvSpPr txBox="1"/>
          <p:nvPr/>
        </p:nvSpPr>
        <p:spPr>
          <a:xfrm>
            <a:off x="4592549" y="3867030"/>
            <a:ext cx="328773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SG" sz="1800" b="1" dirty="0"/>
              <a:t>Time Period</a:t>
            </a:r>
            <a:r>
              <a:rPr lang="en-SG" sz="1400" b="1" dirty="0"/>
              <a:t>: </a:t>
            </a:r>
            <a:r>
              <a:rPr lang="en-SG" sz="1600" dirty="0"/>
              <a:t>Jan 2015 – Dec 2015 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2ED89C-1E53-BC9E-C9B5-78C19585F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2610" y="2444799"/>
            <a:ext cx="1260000" cy="12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8E5725-1904-DC97-97D3-4D5D6D3C4DC6}"/>
              </a:ext>
            </a:extLst>
          </p:cNvPr>
          <p:cNvSpPr txBox="1"/>
          <p:nvPr/>
        </p:nvSpPr>
        <p:spPr>
          <a:xfrm>
            <a:off x="8457345" y="3825799"/>
            <a:ext cx="287162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/>
              <a:t>Tools</a:t>
            </a:r>
            <a:r>
              <a:rPr lang="en-US" sz="1400" b="1" dirty="0"/>
              <a:t>: </a:t>
            </a:r>
            <a:r>
              <a:rPr lang="en-US" sz="1600" dirty="0"/>
              <a:t>Excel, Power Pivot, DAX, Pivot Charts, Power Query</a:t>
            </a:r>
          </a:p>
        </p:txBody>
      </p:sp>
    </p:spTree>
    <p:extLst>
      <p:ext uri="{BB962C8B-B14F-4D97-AF65-F5344CB8AC3E}">
        <p14:creationId xmlns:p14="http://schemas.microsoft.com/office/powerpoint/2010/main" val="113238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C88B6-BF61-462F-BA80-DFB519B2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C3110B5-7E8A-ED68-163C-F7CE03BA5A4A}"/>
              </a:ext>
            </a:extLst>
          </p:cNvPr>
          <p:cNvSpPr/>
          <p:nvPr/>
        </p:nvSpPr>
        <p:spPr>
          <a:xfrm>
            <a:off x="392131" y="144749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86D7853-42C7-7F5F-96A8-542ACD05AC48}"/>
              </a:ext>
            </a:extLst>
          </p:cNvPr>
          <p:cNvSpPr/>
          <p:nvPr/>
        </p:nvSpPr>
        <p:spPr>
          <a:xfrm>
            <a:off x="863028" y="1778000"/>
            <a:ext cx="10566971" cy="3215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8" name="Picture 7" descr="A computer network diagram with a circular object and a globe&#10;&#10;AI-generated content may be incorrect.">
            <a:extLst>
              <a:ext uri="{FF2B5EF4-FFF2-40B4-BE49-F238E27FC236}">
                <a16:creationId xmlns:a16="http://schemas.microsoft.com/office/drawing/2014/main" id="{6C15D97B-36C2-FB0B-8A90-9C15C503A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1778000"/>
            <a:ext cx="360000" cy="3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F9DF65-7305-3D6E-A14C-AABAB2FDF847}"/>
              </a:ext>
            </a:extLst>
          </p:cNvPr>
          <p:cNvSpPr txBox="1"/>
          <p:nvPr/>
        </p:nvSpPr>
        <p:spPr>
          <a:xfrm>
            <a:off x="1322796" y="1778000"/>
            <a:ext cx="7821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b="1" dirty="0"/>
              <a:t>Data Collection: </a:t>
            </a:r>
            <a:r>
              <a:rPr lang="en-US" sz="1400" dirty="0"/>
              <a:t>Imported data from 4 csv files(orders</a:t>
            </a:r>
            <a:r>
              <a:rPr lang="en-US" dirty="0"/>
              <a:t>, </a:t>
            </a:r>
            <a:r>
              <a:rPr lang="en-US" sz="1400" dirty="0"/>
              <a:t>order_details, pizzas, pizza_types)</a:t>
            </a:r>
          </a:p>
        </p:txBody>
      </p:sp>
      <p:pic>
        <p:nvPicPr>
          <p:cNvPr id="14" name="Picture 13" descr="A blue circular object with stars and a broom&#10;&#10;AI-generated content may be incorrect.">
            <a:extLst>
              <a:ext uri="{FF2B5EF4-FFF2-40B4-BE49-F238E27FC236}">
                <a16:creationId xmlns:a16="http://schemas.microsoft.com/office/drawing/2014/main" id="{5AE99337-15A4-BF4D-A9A1-B01956772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1" y="2482495"/>
            <a:ext cx="360000" cy="36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642D04-5FC1-ADA2-C62A-2694F86B05FA}"/>
              </a:ext>
            </a:extLst>
          </p:cNvPr>
          <p:cNvSpPr txBox="1"/>
          <p:nvPr/>
        </p:nvSpPr>
        <p:spPr>
          <a:xfrm>
            <a:off x="1223028" y="2482496"/>
            <a:ext cx="103079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600" b="1" dirty="0"/>
              <a:t> Data Transformation: </a:t>
            </a:r>
            <a:r>
              <a:rPr lang="en-US" sz="1400" dirty="0">
                <a:solidFill>
                  <a:srgbClr val="3C3C3C"/>
                </a:solidFill>
              </a:rPr>
              <a:t>Created the ‘Hour’ and ‘Time Slot’ column using Power Query M language for analysis.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SG" sz="1400" dirty="0">
              <a:solidFill>
                <a:srgbClr val="3C3C3C"/>
              </a:solidFill>
            </a:endParaRPr>
          </a:p>
        </p:txBody>
      </p:sp>
      <p:pic>
        <p:nvPicPr>
          <p:cNvPr id="17" name="Picture 16" descr="A calendar with a spiral bound page&#10;&#10;AI-generated content may be incorrect.">
            <a:extLst>
              <a:ext uri="{FF2B5EF4-FFF2-40B4-BE49-F238E27FC236}">
                <a16:creationId xmlns:a16="http://schemas.microsoft.com/office/drawing/2014/main" id="{19B9B9F6-44C3-508A-1424-407BFC214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14" y="3200962"/>
            <a:ext cx="360000" cy="36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BED401-E6E6-15CF-0E0E-1C570B7D5319}"/>
              </a:ext>
            </a:extLst>
          </p:cNvPr>
          <p:cNvSpPr txBox="1"/>
          <p:nvPr/>
        </p:nvSpPr>
        <p:spPr>
          <a:xfrm>
            <a:off x="1163343" y="3236733"/>
            <a:ext cx="81553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600" b="1" dirty="0"/>
              <a:t>  Created Calendar Table: </a:t>
            </a:r>
            <a:r>
              <a:rPr lang="en-SG" sz="1400" dirty="0"/>
              <a:t>Added Columns: Year, Quarter, Month, Day name in Power Pivot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SG" sz="1600" b="1" dirty="0"/>
          </a:p>
        </p:txBody>
      </p:sp>
      <p:pic>
        <p:nvPicPr>
          <p:cNvPr id="20" name="Picture 19" descr="A yellow and grey object with a yellow cylinder&#10;&#10;AI-generated content may be incorrect.">
            <a:extLst>
              <a:ext uri="{FF2B5EF4-FFF2-40B4-BE49-F238E27FC236}">
                <a16:creationId xmlns:a16="http://schemas.microsoft.com/office/drawing/2014/main" id="{418ADE64-9945-9575-5C94-D6B6ACD753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3965024"/>
            <a:ext cx="360000" cy="36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15AFF5B-8793-5830-EFB9-8687087ECA63}"/>
              </a:ext>
            </a:extLst>
          </p:cNvPr>
          <p:cNvSpPr txBox="1"/>
          <p:nvPr/>
        </p:nvSpPr>
        <p:spPr>
          <a:xfrm>
            <a:off x="1139574" y="3940876"/>
            <a:ext cx="6097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600" b="1" dirty="0"/>
              <a:t>  Data Modelling: </a:t>
            </a:r>
            <a:r>
              <a:rPr lang="en-SG" sz="1400" dirty="0"/>
              <a:t>Establish relationships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CE0C38-17F7-63EF-213D-DD3E7695B732}"/>
              </a:ext>
            </a:extLst>
          </p:cNvPr>
          <p:cNvSpPr txBox="1"/>
          <p:nvPr/>
        </p:nvSpPr>
        <p:spPr>
          <a:xfrm>
            <a:off x="2874196" y="4314260"/>
            <a:ext cx="459511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200" dirty="0"/>
              <a:t>1. Order_details -&gt; Orders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200" dirty="0"/>
              <a:t>2. Order_details -&gt; Pizzas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200" dirty="0">
                <a:solidFill>
                  <a:srgbClr val="3C3C3C"/>
                </a:solidFill>
              </a:rPr>
              <a:t>3. Pizzas-&gt; Pizza_types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SG" sz="1200" dirty="0">
                <a:solidFill>
                  <a:srgbClr val="3C3C3C"/>
                </a:solidFill>
              </a:rPr>
              <a:t>4. Orders-&gt;Calendar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SG" sz="1400" dirty="0"/>
          </a:p>
        </p:txBody>
      </p:sp>
      <p:pic>
        <p:nvPicPr>
          <p:cNvPr id="25" name="Picture 24" descr="A magnifying glass over a paper&#10;&#10;AI-generated content may be incorrect.">
            <a:extLst>
              <a:ext uri="{FF2B5EF4-FFF2-40B4-BE49-F238E27FC236}">
                <a16:creationId xmlns:a16="http://schemas.microsoft.com/office/drawing/2014/main" id="{F9BE7A88-AB15-56F6-25B4-106DB033B0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40" y="5087553"/>
            <a:ext cx="360000" cy="360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04D8EF9-9E12-48CD-6768-B05DDA425655}"/>
              </a:ext>
            </a:extLst>
          </p:cNvPr>
          <p:cNvSpPr txBox="1"/>
          <p:nvPr/>
        </p:nvSpPr>
        <p:spPr>
          <a:xfrm>
            <a:off x="1052198" y="5112608"/>
            <a:ext cx="10187729" cy="102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b="1" dirty="0"/>
              <a:t>   Prepared for Analysis: 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b="1" dirty="0"/>
              <a:t>		</a:t>
            </a:r>
            <a:r>
              <a:rPr lang="en-US" sz="1400" dirty="0"/>
              <a:t>Created Calculated Column:  Hour, Time Slot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400" dirty="0"/>
              <a:t>		Measures: Total Sales, Total Quantity, Total Orders, Average Order Value, MOM Growth%, Total 			Sales%, Average Pizzas per order, Average Price per pizza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58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ECC05-8A01-64B8-7898-96B432B3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19E35DD-6E51-65D6-F06F-D92EC8281C3B}"/>
              </a:ext>
            </a:extLst>
          </p:cNvPr>
          <p:cNvSpPr/>
          <p:nvPr/>
        </p:nvSpPr>
        <p:spPr>
          <a:xfrm>
            <a:off x="474324" y="173006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Entity Relationship Diagram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47099BE-994C-2049-0ECC-C0A3AE9E702A}"/>
              </a:ext>
            </a:extLst>
          </p:cNvPr>
          <p:cNvSpPr/>
          <p:nvPr/>
        </p:nvSpPr>
        <p:spPr>
          <a:xfrm>
            <a:off x="863028" y="1778000"/>
            <a:ext cx="10566971" cy="3215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E0BB8-A2A1-F031-EB88-29C3733B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389" y="1579676"/>
            <a:ext cx="6969436" cy="52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5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DDBA6-E2EC-BEAA-3593-7B4342E2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FDE6389-1801-C308-787B-29C14967B226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KPIs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2A1F84B-D6DC-113B-0A15-9E441B0AC2C0}"/>
              </a:ext>
            </a:extLst>
          </p:cNvPr>
          <p:cNvSpPr/>
          <p:nvPr/>
        </p:nvSpPr>
        <p:spPr>
          <a:xfrm>
            <a:off x="669533" y="1778000"/>
            <a:ext cx="10760467" cy="15182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Key Performance Indicators</a:t>
            </a:r>
            <a:endParaRPr lang="en-US" sz="1800" dirty="0">
              <a:solidFill>
                <a:srgbClr val="C00000"/>
              </a:solidFill>
            </a:endParaRPr>
          </a:p>
          <a:p>
            <a:endParaRPr lang="en-US" sz="1800" dirty="0"/>
          </a:p>
          <a:p>
            <a:r>
              <a:rPr lang="en-US" sz="1800" dirty="0"/>
              <a:t>Total Revenue</a:t>
            </a:r>
          </a:p>
          <a:p>
            <a:r>
              <a:rPr lang="en-US" sz="1800" dirty="0"/>
              <a:t>Total Orders</a:t>
            </a:r>
          </a:p>
          <a:p>
            <a:r>
              <a:rPr lang="en-US" sz="1800" dirty="0"/>
              <a:t>Average Order Value (AOV)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4F7498F-05D7-FB19-A7FF-A8D2CD47C357}"/>
              </a:ext>
            </a:extLst>
          </p:cNvPr>
          <p:cNvSpPr/>
          <p:nvPr/>
        </p:nvSpPr>
        <p:spPr>
          <a:xfrm>
            <a:off x="669533" y="3561708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CE2C31"/>
                </a:solidFill>
                <a:latin typeface="Montserrat"/>
                <a:ea typeface="Montserrat"/>
                <a:cs typeface="Montserrat"/>
                <a:sym typeface="Montserrat"/>
              </a:rPr>
              <a:t>21,350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838383"/>
                </a:solidFill>
                <a:latin typeface="Montserrat"/>
                <a:ea typeface="Montserrat"/>
                <a:cs typeface="Montserrat"/>
                <a:sym typeface="Montserrat"/>
              </a:rPr>
              <a:t>Total Orders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E8C721-DCA4-1051-6EF2-84EF168BE006}"/>
              </a:ext>
            </a:extLst>
          </p:cNvPr>
          <p:cNvSpPr/>
          <p:nvPr/>
        </p:nvSpPr>
        <p:spPr>
          <a:xfrm>
            <a:off x="4445000" y="3561708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CE2C31"/>
                </a:solidFill>
                <a:latin typeface="Montserrat"/>
                <a:ea typeface="Montserrat"/>
                <a:cs typeface="Montserrat"/>
                <a:sym typeface="Montserrat"/>
              </a:rPr>
              <a:t>$817.9K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838383"/>
                </a:solidFill>
                <a:latin typeface="Montserrat"/>
                <a:ea typeface="Montserrat"/>
                <a:cs typeface="Montserrat"/>
                <a:sym typeface="Montserrat"/>
              </a:rPr>
              <a:t>Total Revenue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67A8AE6-8461-08A4-EE84-19490561D3F3}"/>
              </a:ext>
            </a:extLst>
          </p:cNvPr>
          <p:cNvSpPr/>
          <p:nvPr/>
        </p:nvSpPr>
        <p:spPr>
          <a:xfrm>
            <a:off x="8220467" y="3561708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CE2C31"/>
                </a:solidFill>
                <a:latin typeface="Montserrat"/>
                <a:ea typeface="Montserrat"/>
                <a:cs typeface="Montserrat"/>
                <a:sym typeface="Montserrat"/>
              </a:rPr>
              <a:t>$38.31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838383"/>
                </a:solidFill>
                <a:latin typeface="Montserrat"/>
                <a:ea typeface="Montserrat"/>
                <a:cs typeface="Montserrat"/>
                <a:sym typeface="Montserrat"/>
              </a:rPr>
              <a:t>Avg Order Value</a:t>
            </a:r>
          </a:p>
        </p:txBody>
      </p:sp>
    </p:spTree>
    <p:extLst>
      <p:ext uri="{BB962C8B-B14F-4D97-AF65-F5344CB8AC3E}">
        <p14:creationId xmlns:p14="http://schemas.microsoft.com/office/powerpoint/2010/main" val="357051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Monthly Revenue Trend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1241" y="1778000"/>
            <a:ext cx="7377986" cy="3862512"/>
          </a:xfrm>
          <a:prstGeom prst="roundRect">
            <a:avLst>
              <a:gd name="adj" fmla="val 33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45071" y="328773"/>
            <a:ext cx="3538929" cy="58768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sz="18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2000" b="1" dirty="0">
                <a:solidFill>
                  <a:srgbClr val="C00000"/>
                </a:solidFill>
              </a:rPr>
              <a:t>Monthly Revenue Trend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Line chart highlights sales trend over time</a:t>
            </a: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KPI arrows indicate MoM growth or decline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Enables quick identification of strong and weak months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600" dirty="0"/>
              <a:t>▲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Green arrow indicates month-over-month growth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▼ Red arrow indicates month-over-month decline</a:t>
            </a:r>
          </a:p>
          <a:p>
            <a:endParaRPr lang="en-US" sz="1600" dirty="0">
              <a:solidFill>
                <a:srgbClr val="646464"/>
              </a:solidFill>
              <a:latin typeface="Open Sans"/>
              <a:ea typeface="Open Sans"/>
              <a:cs typeface="Open Sans"/>
            </a:endParaRPr>
          </a:p>
          <a:p>
            <a:endParaRPr lang="en-US" sz="1600" dirty="0">
              <a:solidFill>
                <a:srgbClr val="646464"/>
              </a:solidFill>
              <a:latin typeface="Open Sans"/>
              <a:ea typeface="Open Sans"/>
              <a:cs typeface="Open Sans"/>
            </a:endParaRPr>
          </a:p>
          <a:p>
            <a:endParaRPr lang="en-US" sz="1600" dirty="0">
              <a:solidFill>
                <a:srgbClr val="646464"/>
              </a:solidFill>
              <a:latin typeface="Open Sans"/>
              <a:ea typeface="Open Sans"/>
              <a:cs typeface="Open Sans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9554DF-0E3A-65CC-8B4B-5F2B715D2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5" y="2031325"/>
            <a:ext cx="6568663" cy="32084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Top 10 Pizzas by Revenue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6096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387118" y="1778000"/>
            <a:ext cx="4042881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SG" sz="2000" b="1" dirty="0">
                <a:solidFill>
                  <a:srgbClr val="C00000"/>
                </a:solidFill>
              </a:rPr>
              <a:t>Top Revenue-Generating Pizzas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dirty="0"/>
              <a:t>Ranked pizzas by total revenue to identify top-performing products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Revenue is concentrated among a few high-performing products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dirty="0"/>
              <a:t>The Thai Chicken and  Barbecue Chicken are our financial powerhouses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B64BE6-5588-DADC-E61E-967A5CCED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31" y="2228406"/>
            <a:ext cx="5610078" cy="3021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Top 10 Pizzas by Quantity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334000" y="1778000"/>
            <a:ext cx="6096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High-Demand Products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Highlights pizzas with the highest sales volume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Indicates strong customer preference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The Classic Deluxe pizza is the most ordered item, indicating strong and consistent customer preference.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F08F2-AC2A-7F19-1D32-1A32762EE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696" y="2094588"/>
            <a:ext cx="5451491" cy="31555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Revenue by Category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7112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0" y="349321"/>
            <a:ext cx="3348234" cy="57466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/>
          </a:bodyPr>
          <a:lstStyle/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5000"/>
              </a:lnSpc>
            </a:pPr>
            <a:r>
              <a:rPr lang="en-US" sz="2000" b="1" dirty="0">
                <a:solidFill>
                  <a:srgbClr val="C00000"/>
                </a:solidFill>
              </a:rPr>
              <a:t>Category-Wise Sales Distribution</a:t>
            </a:r>
            <a:endParaRPr lang="en-US" sz="2000" dirty="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Shows revenue split across pizza categories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Open Sans"/>
              </a:rPr>
              <a:t>Classic pizzas lead slightly at $220k, but Supreme, Chicken, and Veggie are all close behind</a:t>
            </a: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Open Sans"/>
              </a:rPr>
              <a:t>This balance reduces risk we are not over-reliant on a single flavor profile.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35000"/>
              </a:lnSpc>
              <a:buFont typeface="Wingdings" panose="05000000000000000000" pitchFamily="2" charset="2"/>
              <a:buChar char="§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  <a:sym typeface="Open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Identifies leading and underperforming categories</a:t>
            </a:r>
          </a:p>
          <a:p>
            <a:pPr>
              <a:lnSpc>
                <a:spcPct val="125000"/>
              </a:lnSpc>
            </a:pPr>
            <a:endParaRPr lang="en-US" sz="1600" dirty="0"/>
          </a:p>
          <a:p>
            <a:pPr indent="0" algn="l">
              <a:lnSpc>
                <a:spcPct val="125000"/>
              </a:lnSpc>
            </a:pPr>
            <a:endParaRPr lang="en-US" sz="1600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0425E-BDCC-EC6F-3F2B-FDAE6B56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65" y="2200770"/>
            <a:ext cx="5798090" cy="36149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Revenue by Size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6096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366000" y="1778000"/>
            <a:ext cx="4064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5000"/>
              </a:lnSpc>
            </a:pPr>
            <a:r>
              <a:rPr lang="en-US" sz="2000" b="1" dirty="0">
                <a:solidFill>
                  <a:srgbClr val="C00000"/>
                </a:solidFill>
              </a:rPr>
              <a:t>Size-Wise Sales Contribution</a:t>
            </a:r>
            <a:endParaRPr lang="en-US" sz="20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endParaRPr lang="en-US" sz="1600" dirty="0"/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Compares sales across pizza sizes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Larger sizes contribute more revenue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Indicates strong upsell performance</a:t>
            </a:r>
          </a:p>
          <a:p>
            <a:pPr indent="0" algn="l">
              <a:lnSpc>
                <a:spcPct val="125000"/>
              </a:lnSpc>
            </a:pPr>
            <a:endParaRPr lang="en-US" sz="1600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ym typeface="Open Sans"/>
              </a:rPr>
              <a:t>Large pizzas are the revenue engine, generating $375k nearly double that of Small pizzas.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AD76F-054F-65A9-296B-3B740C1B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354" y="2236969"/>
            <a:ext cx="4991292" cy="34000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Revenue by Weekday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334000" y="1778000"/>
            <a:ext cx="6096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4318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endParaRPr lang="en-US" sz="2000" b="1" dirty="0"/>
          </a:p>
          <a:p>
            <a:r>
              <a:rPr lang="en-US" sz="2200" b="1" dirty="0">
                <a:solidFill>
                  <a:srgbClr val="C00000"/>
                </a:solidFill>
              </a:rPr>
              <a:t>Weekly Demand Pattern</a:t>
            </a:r>
          </a:p>
          <a:p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Compares sales across days of the week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9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Highlights higher demand on specific days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9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/>
              <a:t>Supports promotion and resource allocation planning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9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ym typeface="Open Sans"/>
              </a:rPr>
              <a:t>Friday is the undisputed champion ($136k), followed closely by Thursday and Saturday. These three days anchor our weekly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900" dirty="0"/>
          </a:p>
          <a:p>
            <a:pPr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rgbClr val="CE2C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 b="1" dirty="0">
              <a:solidFill>
                <a:srgbClr val="CE2C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rgbClr val="CE2C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E6BB0-4DB9-C1E1-49BB-701BA9C0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09" y="2217780"/>
            <a:ext cx="4650769" cy="35496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Revenue by Timeslot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952090"/>
            <a:ext cx="6604000" cy="4143910"/>
          </a:xfrm>
          <a:prstGeom prst="roundRect">
            <a:avLst>
              <a:gd name="adj" fmla="val 235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787811" y="1417834"/>
            <a:ext cx="3642189" cy="46781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ct val="125000"/>
              </a:lnSpc>
            </a:pPr>
            <a:r>
              <a:rPr lang="en-SG" sz="2000" b="1" dirty="0">
                <a:solidFill>
                  <a:srgbClr val="C00000"/>
                </a:solidFill>
                <a:latin typeface="+mj-lt"/>
              </a:rPr>
              <a:t>Customer Ordering Behavior</a:t>
            </a:r>
            <a:endParaRPr lang="en-US" sz="2000" b="1" i="0" u="none" strike="noStrike" dirty="0">
              <a:solidFill>
                <a:srgbClr val="C00000"/>
              </a:solidFill>
              <a:latin typeface="+mj-lt"/>
              <a:ea typeface="Open Sans"/>
              <a:cs typeface="Open Sans"/>
              <a:sym typeface="Open Sans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pitchFamily="2" charset="2"/>
              <a:buChar char="§"/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Analyzes sales during morning, afternoon, and evening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Identifies peak ordering periods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Peak sales occur during afternoon and evening hours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Useful for staffing and operational planning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0" algn="l">
              <a:lnSpc>
                <a:spcPct val="125000"/>
              </a:lnSpc>
            </a:pPr>
            <a:endParaRPr lang="en-US" sz="16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79B56F-ED83-F508-40FB-3041C0A59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17" y="2151196"/>
            <a:ext cx="5636291" cy="37050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91710-BA2B-FD73-646A-99317EE3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D056B5E-C6DB-5BF6-C7EA-8B974C313EFD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z="3600" b="1" dirty="0"/>
              <a:t>Conclusion</a:t>
            </a:r>
            <a:endParaRPr lang="en-US" sz="36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8AA10E2-88DC-A294-63AA-7C933B067258}"/>
              </a:ext>
            </a:extLst>
          </p:cNvPr>
          <p:cNvSpPr/>
          <p:nvPr/>
        </p:nvSpPr>
        <p:spPr>
          <a:xfrm>
            <a:off x="762000" y="1777999"/>
            <a:ext cx="10015592" cy="3472095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Sales performance is driven by a combination of high-volume affordable products and high-revenue premium items.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Clear seasonal and time-based demand patterns exist.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Upselling larger pizza sizes represents a strong revenue growth opportunity.</a:t>
            </a:r>
          </a:p>
        </p:txBody>
      </p:sp>
    </p:spTree>
    <p:extLst>
      <p:ext uri="{BB962C8B-B14F-4D97-AF65-F5344CB8AC3E}">
        <p14:creationId xmlns:p14="http://schemas.microsoft.com/office/powerpoint/2010/main" val="95967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E01E6-7E94-852E-1FEE-53C979F7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201CA04-CDE2-F9F6-078F-A1E8196152EA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0202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lang="en-US"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2B927A-30C7-FBDC-0996-3B2FE22A2C32}"/>
              </a:ext>
            </a:extLst>
          </p:cNvPr>
          <p:cNvSpPr/>
          <p:nvPr/>
        </p:nvSpPr>
        <p:spPr>
          <a:xfrm>
            <a:off x="762000" y="1778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 dirty="0"/>
              <a:t>Promote high-volume, low-revenue pizzas with size or add-on upsell strategies.</a:t>
            </a:r>
            <a:endParaRPr lang="en-US" sz="20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374A488-B2D7-C136-E8EB-AB37AD44435A}"/>
              </a:ext>
            </a:extLst>
          </p:cNvPr>
          <p:cNvSpPr/>
          <p:nvPr/>
        </p:nvSpPr>
        <p:spPr>
          <a:xfrm>
            <a:off x="6350000" y="1778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 dirty="0"/>
              <a:t>Focus marketing efforts on top revenue-generating pizzas.</a:t>
            </a:r>
            <a:endParaRPr lang="en-US" sz="20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650F8B1-C326-2F5B-0C67-C7DF1DA9B256}"/>
              </a:ext>
            </a:extLst>
          </p:cNvPr>
          <p:cNvSpPr/>
          <p:nvPr/>
        </p:nvSpPr>
        <p:spPr>
          <a:xfrm>
            <a:off x="762000" y="4191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 dirty="0"/>
              <a:t>Align staffing and promotions with peak ordering hours and weekends.</a:t>
            </a:r>
            <a:endParaRPr lang="en-US" sz="20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0A0EE9F-DDB3-8627-F159-AEBD044792E7}"/>
              </a:ext>
            </a:extLst>
          </p:cNvPr>
          <p:cNvSpPr/>
          <p:nvPr/>
        </p:nvSpPr>
        <p:spPr>
          <a:xfrm>
            <a:off x="6350000" y="4191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 dirty="0"/>
              <a:t>Use seasonal trends to plan targeted monthly campaigns.</a:t>
            </a:r>
            <a:endParaRPr lang="en-US" sz="20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129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SG" sz="3600" b="1" dirty="0"/>
              <a:t>Challenges &amp; Learnings</a:t>
            </a:r>
            <a:endParaRPr lang="en-US" sz="1100" b="1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570396" cy="4766638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r>
              <a:rPr lang="en-SG" sz="2000" b="1" dirty="0">
                <a:solidFill>
                  <a:srgbClr val="C00000"/>
                </a:solidFill>
              </a:rPr>
              <a:t>Challenges</a:t>
            </a:r>
          </a:p>
          <a:p>
            <a:endParaRPr lang="en-SG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000" dirty="0"/>
              <a:t>Excel limitations in conditional chart formatting.</a:t>
            </a:r>
          </a:p>
          <a:p>
            <a:endParaRPr lang="en-SG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000" dirty="0"/>
              <a:t>Auto-generated date table producing incorrect year values (1899).</a:t>
            </a:r>
          </a:p>
          <a:p>
            <a:endParaRPr lang="en-SG" sz="2000" dirty="0"/>
          </a:p>
          <a:p>
            <a:r>
              <a:rPr lang="en-SG" sz="2000" b="1" dirty="0">
                <a:solidFill>
                  <a:srgbClr val="C00000"/>
                </a:solidFill>
              </a:rPr>
              <a:t>Learnings &amp; Solutions</a:t>
            </a:r>
          </a:p>
          <a:p>
            <a:endParaRPr lang="en-SG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000" dirty="0"/>
              <a:t>Built a custom calendar table using DAX.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000" dirty="0"/>
              <a:t>Used KPI arrow strips to communicate MoM trends effectively.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SG" sz="2000" dirty="0"/>
              <a:t>Strengthened Power Pivot, DAX, and data modelling skills.</a:t>
            </a:r>
          </a:p>
          <a:p>
            <a:pPr>
              <a:lnSpc>
                <a:spcPct val="125000"/>
              </a:lnSpc>
              <a:defRPr/>
            </a:pPr>
            <a:endParaRPr lang="en-US" sz="2000" b="0" i="0" u="none" strike="noStrike" dirty="0">
              <a:solidFill>
                <a:srgbClr val="64646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rm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783</Words>
  <Application>Microsoft Office PowerPoint</Application>
  <PresentationFormat>Widescreen</PresentationFormat>
  <Paragraphs>196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Montserrat</vt:lpstr>
      <vt:lpstr>Open Sans</vt:lpstr>
      <vt:lpstr>Wingdings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Sheeba Soosai</cp:lastModifiedBy>
  <cp:revision>8</cp:revision>
  <dcterms:modified xsi:type="dcterms:W3CDTF">2026-02-10T03:48:16Z</dcterms:modified>
</cp:coreProperties>
</file>